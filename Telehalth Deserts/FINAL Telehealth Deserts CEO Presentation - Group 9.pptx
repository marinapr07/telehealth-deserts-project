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ifazh7/UuUa7F3Ffp1HEpM9C6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9a644ec818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g39a644ec818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39a644ec818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644ec81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9a644ec81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a644ec81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a644ec818_3_7:notes"/>
          <p:cNvSpPr txBox="1"/>
          <p:nvPr>
            <p:ph idx="1" type="body"/>
          </p:nvPr>
        </p:nvSpPr>
        <p:spPr>
          <a:xfrm>
            <a:off x="685800" y="4343400"/>
            <a:ext cx="37719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a644ec818_3_7:notes"/>
          <p:cNvSpPr/>
          <p:nvPr>
            <p:ph idx="2" type="sldImg"/>
          </p:nvPr>
        </p:nvSpPr>
        <p:spPr>
          <a:xfrm>
            <a:off x="85725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a644ec818_3_39"/>
          <p:cNvSpPr txBox="1"/>
          <p:nvPr>
            <p:ph idx="12" type="sldNum"/>
          </p:nvPr>
        </p:nvSpPr>
        <p:spPr>
          <a:xfrm>
            <a:off x="4419600" y="4630341"/>
            <a:ext cx="2133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22850" spcFirstLastPara="1" rIns="22850" wrap="square" tIns="2285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  <a:defRPr sz="6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  <a:defRPr sz="6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  <a:defRPr sz="6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  <a:defRPr sz="6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  <a:defRPr sz="6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  <a:defRPr sz="6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  <a:defRPr sz="6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  <a:defRPr sz="6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  <a:defRPr sz="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7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9a644ec818_2_0"/>
          <p:cNvSpPr/>
          <p:nvPr/>
        </p:nvSpPr>
        <p:spPr>
          <a:xfrm>
            <a:off x="411472" y="1252425"/>
            <a:ext cx="80025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Telehealth Deserts: The Hidden Intersection of Healthcare Access &amp; Connectivity</a:t>
            </a:r>
            <a:endParaRPr i="0" sz="3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g39a644ec818_2_0"/>
          <p:cNvCxnSpPr/>
          <p:nvPr/>
        </p:nvCxnSpPr>
        <p:spPr>
          <a:xfrm>
            <a:off x="447305" y="3264230"/>
            <a:ext cx="8249400" cy="5400"/>
          </a:xfrm>
          <a:prstGeom prst="straightConnector1">
            <a:avLst/>
          </a:prstGeom>
          <a:noFill/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g39a644ec818_2_0"/>
          <p:cNvSpPr/>
          <p:nvPr/>
        </p:nvSpPr>
        <p:spPr>
          <a:xfrm>
            <a:off x="2355330" y="353125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Daniel S.</a:t>
            </a:r>
            <a:r>
              <a:rPr lang="en-US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|</a:t>
            </a: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Haoyuan C.</a:t>
            </a:r>
            <a:r>
              <a:rPr lang="en-US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|</a:t>
            </a: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Tim B</a:t>
            </a:r>
            <a:r>
              <a:rPr lang="en-US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. |</a:t>
            </a: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Marina P.</a:t>
            </a:r>
            <a:r>
              <a:rPr lang="en-US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Ce.</a:t>
            </a:r>
            <a:r>
              <a:rPr lang="en-US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5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5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g39a644ec818_2_0"/>
          <p:cNvCxnSpPr/>
          <p:nvPr/>
        </p:nvCxnSpPr>
        <p:spPr>
          <a:xfrm>
            <a:off x="5303520" y="0"/>
            <a:ext cx="3840600" cy="0"/>
          </a:xfrm>
          <a:prstGeom prst="straightConnector1">
            <a:avLst/>
          </a:prstGeom>
          <a:noFill/>
          <a:ln cap="flat" cmpd="sng" w="9525">
            <a:solidFill>
              <a:srgbClr val="B85042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/>
          <p:nvPr/>
        </p:nvSpPr>
        <p:spPr>
          <a:xfrm>
            <a:off x="411480" y="34747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COLUMBIA APPLIED ANALYTICS  |  GROUP 9  |  APRIL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11480" y="713232"/>
            <a:ext cx="4754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has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transformed access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healthcare.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11480" y="2834640"/>
            <a:ext cx="4663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Telehealth visits grew 3,800% from 2019 to 2020.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Virtual care is now a primary channel for millions.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1"/>
          <p:cNvCxnSpPr/>
          <p:nvPr/>
        </p:nvCxnSpPr>
        <p:spPr>
          <a:xfrm>
            <a:off x="411480" y="3611880"/>
            <a:ext cx="4114800" cy="0"/>
          </a:xfrm>
          <a:prstGeom prst="straightConnector1">
            <a:avLst/>
          </a:prstGeom>
          <a:noFill/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/>
          <p:nvPr/>
        </p:nvSpPr>
        <p:spPr>
          <a:xfrm>
            <a:off x="411480" y="3767328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But the expansion of digital health has not been equal.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Geography, income, and infrastructure still decide who benefits.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11480" y="4800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Daniel  Haoyuan  Tim  Marina  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8C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" name="Google Shape;34;p1"/>
          <p:cNvCxnSpPr/>
          <p:nvPr/>
        </p:nvCxnSpPr>
        <p:spPr>
          <a:xfrm>
            <a:off x="5303520" y="0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B85042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1"/>
          <p:cNvCxnSpPr/>
          <p:nvPr/>
        </p:nvCxnSpPr>
        <p:spPr>
          <a:xfrm>
            <a:off x="5303520" y="749808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B85042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1"/>
          <p:cNvCxnSpPr/>
          <p:nvPr/>
        </p:nvCxnSpPr>
        <p:spPr>
          <a:xfrm>
            <a:off x="5303520" y="149961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B85042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5303520" y="2249424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B85042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5303520" y="2999232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B85042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5303520" y="3749040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B85042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5303520" y="4498848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B85042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1"/>
          <p:cNvSpPr/>
          <p:nvPr/>
        </p:nvSpPr>
        <p:spPr>
          <a:xfrm>
            <a:off x="5532120" y="384048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DIGITAL DIVIDE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5532120" y="777240"/>
            <a:ext cx="3291840" cy="118872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5623560" y="850392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3,800%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5623560" y="1490472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 in telehealth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2019 to 2020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5532120" y="2148840"/>
            <a:ext cx="3291840" cy="118872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5623560" y="2221992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22.3%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5623560" y="2862072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rural Americans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still lack broadband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5532120" y="3520440"/>
            <a:ext cx="3291840" cy="118872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5623560" y="3593592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~3.5M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5623560" y="4233672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Americans living 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gaps simultaneously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411480" y="201168"/>
            <a:ext cx="1645920" cy="237744"/>
          </a:xfrm>
          <a:prstGeom prst="roundRect">
            <a:avLst>
              <a:gd fmla="val 15385" name="adj"/>
            </a:avLst>
          </a:prstGeom>
          <a:solidFill>
            <a:srgbClr val="B85042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02920" y="219456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01  THE 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11480" y="548640"/>
            <a:ext cx="8321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Telehealth promises access.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Geography decides who gets it.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11480" y="2103120"/>
            <a:ext cx="2651700" cy="2377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11480" y="2103120"/>
            <a:ext cx="2651760" cy="64008"/>
          </a:xfrm>
          <a:prstGeom prst="rect">
            <a:avLst/>
          </a:prstGeom>
          <a:solidFill>
            <a:srgbClr val="8C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26242" y="2231938"/>
            <a:ext cx="522900" cy="537900"/>
          </a:xfrm>
          <a:prstGeom prst="ellipse">
            <a:avLst/>
          </a:prstGeom>
          <a:solidFill>
            <a:srgbClr val="8C3A2A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2286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/>
          <p:nvPr/>
        </p:nvSpPr>
        <p:spPr>
          <a:xfrm>
            <a:off x="576072" y="28346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A2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22.3%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76072" y="340156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of rural Americans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lack fixed broadband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76072" y="422452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USDA / FCC Form 477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319272" y="2103120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3319272" y="2103120"/>
            <a:ext cx="2651760" cy="6400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483864" y="2249424"/>
            <a:ext cx="457200" cy="457200"/>
          </a:xfrm>
          <a:prstGeom prst="ellipse">
            <a:avLst/>
          </a:prstGeom>
          <a:solidFill>
            <a:srgbClr val="B85042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5721" y="229656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3483864" y="28346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244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483864" y="340156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MUA counties also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have &lt;40% broadband (at 25mbps)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483864" y="422452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HRSA + FCC, 2024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227064" y="2103120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227064" y="2103120"/>
            <a:ext cx="2651760" cy="64008"/>
          </a:xfrm>
          <a:prstGeom prst="rect">
            <a:avLst/>
          </a:prstGeom>
          <a:solidFill>
            <a:srgbClr val="C997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391656" y="2249424"/>
            <a:ext cx="457200" cy="457200"/>
          </a:xfrm>
          <a:prstGeom prst="ellipse">
            <a:avLst/>
          </a:prstGeom>
          <a:solidFill>
            <a:srgbClr val="C9973A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8232" y="2286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/>
          <p:nvPr/>
        </p:nvSpPr>
        <p:spPr>
          <a:xfrm>
            <a:off x="6391656" y="28346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$42.5B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391656" y="340156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BEAD funding at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of missing the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391656" y="422452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NTIA BEAD Allocation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8C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411480" y="4764024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Limited analysis</a:t>
            </a:r>
            <a:r>
              <a:rPr b="1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currently joins these two datasets. BEAD allocations are being finalized now.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411480" y="201168"/>
            <a:ext cx="1645920" cy="237744"/>
          </a:xfrm>
          <a:prstGeom prst="roundRect">
            <a:avLst>
              <a:gd fmla="val 15385" name="adj"/>
            </a:avLst>
          </a:prstGeom>
          <a:solidFill>
            <a:srgbClr val="B85042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02920" y="219456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02  METHODOLOGY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11480" y="530352"/>
            <a:ext cx="8321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Two public datasets.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One targeted shortlist</a:t>
            </a:r>
            <a:r>
              <a:rPr b="1" lang="en-US" sz="3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32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a success story.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11480" y="2011680"/>
            <a:ext cx="502920" cy="502920"/>
          </a:xfrm>
          <a:prstGeom prst="ellipse">
            <a:avLst/>
          </a:prstGeom>
          <a:solidFill>
            <a:srgbClr val="F2ED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11480" y="202996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3A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658368" y="2514600"/>
            <a:ext cx="0" cy="393192"/>
          </a:xfrm>
          <a:prstGeom prst="straightConnector1">
            <a:avLst/>
          </a:prstGeom>
          <a:noFill/>
          <a:ln cap="flat" cmpd="sng" w="19050">
            <a:solidFill>
              <a:srgbClr val="B85042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3"/>
          <p:cNvSpPr/>
          <p:nvPr/>
        </p:nvSpPr>
        <p:spPr>
          <a:xfrm>
            <a:off x="1097280" y="19933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A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HRSA (Health Resources &amp; Services Administration) Medically Underserved Area (MUA) </a:t>
            </a:r>
            <a:r>
              <a:rPr b="1" lang="en-US" sz="1300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1" sz="1300">
              <a:solidFill>
                <a:srgbClr val="8C3A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A2A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8C3A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097280" y="224942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Active Medically Underserved Area/Population designations at county level, joined via 5-digit FIPS (county ID) codes.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11480" y="2907792"/>
            <a:ext cx="502920" cy="502920"/>
          </a:xfrm>
          <a:prstGeom prst="ellipse">
            <a:avLst/>
          </a:prstGeom>
          <a:solidFill>
            <a:srgbClr val="F2ED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11480" y="2926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3A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3"/>
          <p:cNvCxnSpPr/>
          <p:nvPr/>
        </p:nvCxnSpPr>
        <p:spPr>
          <a:xfrm>
            <a:off x="658368" y="3410712"/>
            <a:ext cx="0" cy="393192"/>
          </a:xfrm>
          <a:prstGeom prst="straightConnector1">
            <a:avLst/>
          </a:prstGeom>
          <a:noFill/>
          <a:ln cap="flat" cmpd="sng" w="19050">
            <a:solidFill>
              <a:srgbClr val="B85042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3"/>
          <p:cNvSpPr/>
          <p:nvPr/>
        </p:nvSpPr>
        <p:spPr>
          <a:xfrm>
            <a:off x="1097280" y="28895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A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lang="en-US" sz="1300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ederal Communications Commission</a:t>
            </a:r>
            <a:r>
              <a:rPr b="1" i="0" lang="en-US" sz="1300" u="none" cap="none" strike="noStrike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 (FCC) Form 477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097280" y="31455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Dec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ember 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2024 broadband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access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data. </a:t>
            </a:r>
            <a:r>
              <a:rPr b="1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Counties where &lt;40% of households </a:t>
            </a:r>
            <a:r>
              <a:rPr b="1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meet the</a:t>
            </a:r>
            <a:r>
              <a:rPr b="1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25 Mbps standard for internet is the BEAD unserved threshold.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11480" y="3803904"/>
            <a:ext cx="502920" cy="502920"/>
          </a:xfrm>
          <a:prstGeom prst="ellipse">
            <a:avLst/>
          </a:prstGeom>
          <a:solidFill>
            <a:srgbClr val="8C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11480" y="382219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097280" y="378561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A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Intersection = Telehealth Deserts for Broadband </a:t>
            </a:r>
            <a:r>
              <a:rPr b="1" lang="en-US" sz="1300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1300" u="none" cap="none" strike="noStrike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rioritization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097280" y="404164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207 counties flagged with active MUA </a:t>
            </a:r>
            <a:r>
              <a:rPr b="1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confirmed broadband gap. Built entirely on free public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852160" y="1737360"/>
            <a:ext cx="2880360" cy="3017520"/>
          </a:xfrm>
          <a:prstGeom prst="rect">
            <a:avLst/>
          </a:prstGeom>
          <a:solidFill>
            <a:srgbClr val="1A2B4A"/>
          </a:solidFill>
          <a:ln>
            <a:noFill/>
          </a:ln>
          <a:effectLst>
            <a:outerShdw blurRad="1270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080760" y="187452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080760" y="2240280"/>
            <a:ext cx="54864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236208" y="22311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HRSA MUA/P Designations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080760" y="2642616"/>
            <a:ext cx="54864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236208" y="263347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FCC Form 477 (2014-2024)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080760" y="3044952"/>
            <a:ext cx="54864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236208" y="303580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U.S. Census 2020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080760" y="3447288"/>
            <a:ext cx="54864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236208" y="34381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ACS 5-Year 2023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080760" y="3849624"/>
            <a:ext cx="54864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236208" y="384048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NTIA BEAD Allocation Tables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080760" y="4251960"/>
            <a:ext cx="54864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236208" y="424281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CDC PLACES 2024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080760" y="452628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900"/>
              <a:buFont typeface="Calibri"/>
              <a:buNone/>
            </a:pPr>
            <a:r>
              <a:rPr b="1" i="1" lang="en-US" sz="9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All sources: publicly available, free.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411480" y="201168"/>
            <a:ext cx="1554480" cy="237744"/>
          </a:xfrm>
          <a:prstGeom prst="roundRect">
            <a:avLst>
              <a:gd fmla="val 15385" name="adj"/>
            </a:avLst>
          </a:prstGeom>
          <a:solidFill>
            <a:srgbClr val="B85042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02920" y="2194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03  KEY FINDINGS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11480" y="548640"/>
            <a:ext cx="8321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207 counties.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federal shortlist existed until now.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11480" y="2148840"/>
            <a:ext cx="1965960" cy="1508760"/>
          </a:xfrm>
          <a:prstGeom prst="rect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11480" y="2148840"/>
            <a:ext cx="1965960" cy="5029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21208" y="2231136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207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21208" y="2907792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Telehealth desert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counties identified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560320" y="2148840"/>
            <a:ext cx="1965960" cy="1508760"/>
          </a:xfrm>
          <a:prstGeom prst="rect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560320" y="2148840"/>
            <a:ext cx="1965960" cy="50292"/>
          </a:xfrm>
          <a:prstGeom prst="rect">
            <a:avLst/>
          </a:prstGeom>
          <a:solidFill>
            <a:srgbClr val="C997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2670048" y="2231136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lang="en-US" sz="3800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670048" y="2907792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Concentrated 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Deep South states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709160" y="2148840"/>
            <a:ext cx="1965960" cy="1508760"/>
          </a:xfrm>
          <a:prstGeom prst="rect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709160" y="2148840"/>
            <a:ext cx="1965960" cy="502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818888" y="2231136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60%+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818888" y="2907792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Households without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Mbps coverage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858000" y="2148840"/>
            <a:ext cx="1965960" cy="1508760"/>
          </a:xfrm>
          <a:prstGeom prst="rect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6858000" y="2148840"/>
            <a:ext cx="1965960" cy="50292"/>
          </a:xfrm>
          <a:prstGeom prst="rect">
            <a:avLst/>
          </a:prstGeom>
          <a:solidFill>
            <a:srgbClr val="2A7C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967728" y="2231136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C6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2A7C6F"/>
                </a:solidFill>
                <a:latin typeface="Calibri"/>
                <a:ea typeface="Calibri"/>
                <a:cs typeface="Calibri"/>
                <a:sym typeface="Calibri"/>
              </a:rPr>
              <a:t>~3.5M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967728" y="2907792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Americans living 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telehealth deserts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11480" y="384048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TOP STATES BY TELEHEALTH DESERT COUNTIES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11480" y="4133088"/>
            <a:ext cx="4114800" cy="118872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11480" y="4133088"/>
            <a:ext cx="4114800" cy="11887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663440" y="411480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Mississippi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400800" y="411480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11480" y="4306824"/>
            <a:ext cx="4114800" cy="118872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11480" y="4306824"/>
            <a:ext cx="3867912" cy="11887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663440" y="4288536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Louisiana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400800" y="428853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11480" y="4480560"/>
            <a:ext cx="4114800" cy="118872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11480" y="4480560"/>
            <a:ext cx="3662172" cy="11887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663440" y="446227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Georgia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400800" y="446227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11480" y="4654296"/>
            <a:ext cx="4114800" cy="118872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11480" y="4654296"/>
            <a:ext cx="3209544" cy="11887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4663440" y="4636008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Alabama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400800" y="463600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11480" y="4828032"/>
            <a:ext cx="4114800" cy="118872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411480" y="4828032"/>
            <a:ext cx="3209544" cy="11887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663440" y="4809744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Illinois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400800" y="480974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390355" y="4946908"/>
            <a:ext cx="822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Source: HRSA MUA Designations + FCC Form 477, Dec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39a644ec818_1_0" title="Zoomed 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85162" cy="4838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a644ec818_3_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txBody>
          <a:bodyPr anchorCtr="0" anchor="t" bIns="22850" lIns="22850" spcFirstLastPara="1" rIns="22850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9a644ec818_3_7"/>
          <p:cNvSpPr txBox="1"/>
          <p:nvPr/>
        </p:nvSpPr>
        <p:spPr>
          <a:xfrm>
            <a:off x="619125" y="285750"/>
            <a:ext cx="25086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81F"/>
              </a:buClr>
              <a:buSzPts val="1000"/>
              <a:buFont typeface="Arial"/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9a644ec818_3_7"/>
          <p:cNvSpPr txBox="1"/>
          <p:nvPr/>
        </p:nvSpPr>
        <p:spPr>
          <a:xfrm>
            <a:off x="619125" y="809625"/>
            <a:ext cx="7604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rmAutofit/>
          </a:bodyPr>
          <a:lstStyle/>
          <a:p>
            <a:pPr indent="0" lvl="0" marL="0" marR="0" rtl="0" algn="l">
              <a:lnSpc>
                <a:spcPct val="85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160"/>
              <a:buFont typeface="Arial"/>
              <a:buNone/>
            </a:pPr>
            <a:r>
              <a:rPr b="1" lang="en-US" sz="2800">
                <a:solidFill>
                  <a:srgbClr val="0A1F3D"/>
                </a:solidFill>
                <a:latin typeface="Calibri"/>
                <a:ea typeface="Calibri"/>
                <a:cs typeface="Calibri"/>
                <a:sym typeface="Calibri"/>
              </a:rPr>
              <a:t>The BEAD window is open right now.</a:t>
            </a:r>
            <a:endParaRPr b="1" sz="280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160"/>
              <a:buFont typeface="Arial"/>
              <a:buNone/>
            </a:pPr>
            <a:r>
              <a:t/>
            </a:r>
            <a:endParaRPr sz="116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9a644ec818_3_7"/>
          <p:cNvSpPr/>
          <p:nvPr/>
        </p:nvSpPr>
        <p:spPr>
          <a:xfrm>
            <a:off x="619125" y="1428750"/>
            <a:ext cx="571500" cy="9600"/>
          </a:xfrm>
          <a:prstGeom prst="rect">
            <a:avLst/>
          </a:prstGeom>
          <a:solidFill>
            <a:srgbClr val="B8381F"/>
          </a:solidFill>
          <a:ln>
            <a:noFill/>
          </a:ln>
        </p:spPr>
        <p:txBody>
          <a:bodyPr anchorCtr="0" anchor="t" bIns="22850" lIns="22850" spcFirstLastPara="1" rIns="22850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9a644ec818_3_7"/>
          <p:cNvSpPr txBox="1"/>
          <p:nvPr/>
        </p:nvSpPr>
        <p:spPr>
          <a:xfrm>
            <a:off x="619125" y="1647825"/>
            <a:ext cx="7731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381F"/>
              </a:buClr>
              <a:buSzPts val="1800"/>
              <a:buFont typeface="Arial"/>
              <a:buNone/>
            </a:pPr>
            <a:r>
              <a:rPr i="1" lang="en-US" sz="1700">
                <a:solidFill>
                  <a:srgbClr val="B8381F"/>
                </a:solidFill>
                <a:latin typeface="Calibri"/>
                <a:ea typeface="Calibri"/>
                <a:cs typeface="Calibri"/>
                <a:sym typeface="Calibri"/>
              </a:rPr>
              <a:t>Three actions. One window. No second chance at this scale.</a:t>
            </a:r>
            <a:endParaRPr i="1" sz="1700">
              <a:solidFill>
                <a:srgbClr val="B838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381F"/>
              </a:buClr>
              <a:buSzPts val="1800"/>
              <a:buFont typeface="Arial"/>
              <a:buNone/>
            </a:pPr>
            <a:r>
              <a:t/>
            </a:r>
            <a:endParaRPr i="1" sz="1700">
              <a:solidFill>
                <a:srgbClr val="B838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381F"/>
              </a:buClr>
              <a:buSzPts val="1800"/>
              <a:buFont typeface="Arial"/>
              <a:buNone/>
            </a:pPr>
            <a:r>
              <a:t/>
            </a:r>
            <a:endParaRPr i="1" sz="1700">
              <a:solidFill>
                <a:srgbClr val="B838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9a644ec818_3_7"/>
          <p:cNvSpPr txBox="1"/>
          <p:nvPr/>
        </p:nvSpPr>
        <p:spPr>
          <a:xfrm>
            <a:off x="619125" y="2148340"/>
            <a:ext cx="24528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81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B8381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9a644ec818_3_7"/>
          <p:cNvSpPr txBox="1"/>
          <p:nvPr/>
        </p:nvSpPr>
        <p:spPr>
          <a:xfrm>
            <a:off x="619125" y="2385698"/>
            <a:ext cx="2452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rmAutofit fontScale="25000" lnSpcReduction="20000"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ct val="35417"/>
              <a:buFont typeface="Arial"/>
              <a:buNone/>
            </a:pPr>
            <a:r>
              <a:rPr lang="en-US" sz="4800">
                <a:solidFill>
                  <a:srgbClr val="0A1F3D"/>
                </a:solidFill>
                <a:latin typeface="Calibri"/>
                <a:ea typeface="Calibri"/>
                <a:cs typeface="Calibri"/>
                <a:sym typeface="Calibri"/>
              </a:rPr>
              <a:t>Put 207-county’s name on the list  before states finalize their plans.</a:t>
            </a:r>
            <a:endParaRPr sz="480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ct val="100000"/>
              <a:buFont typeface="Arial"/>
              <a:buNone/>
            </a:pPr>
            <a:r>
              <a:t/>
            </a:r>
            <a:endParaRPr sz="170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ct val="35417"/>
              <a:buFont typeface="Arial"/>
              <a:buNone/>
            </a:pPr>
            <a:r>
              <a:t/>
            </a:r>
            <a:endParaRPr sz="480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9a644ec818_3_7"/>
          <p:cNvSpPr txBox="1"/>
          <p:nvPr/>
        </p:nvSpPr>
        <p:spPr>
          <a:xfrm>
            <a:off x="619125" y="3212515"/>
            <a:ext cx="24528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rmAutofit fontScale="70000" lnSpcReduction="10000"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ct val="100000"/>
              <a:buFont typeface="Arial"/>
              <a:buNone/>
            </a:pPr>
            <a:r>
              <a:rPr lang="en-US" sz="1200">
                <a:solidFill>
                  <a:srgbClr val="6B7890"/>
                </a:solidFill>
                <a:latin typeface="Calibri"/>
                <a:ea typeface="Calibri"/>
                <a:cs typeface="Calibri"/>
                <a:sym typeface="Calibri"/>
              </a:rPr>
              <a:t>Authorize HRSA to submit the 207-county telehealth desert list to NTIA — this quarter.</a:t>
            </a:r>
            <a:endParaRPr sz="1200">
              <a:solidFill>
                <a:srgbClr val="6B78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ct val="100000"/>
              <a:buFont typeface="Arial"/>
              <a:buNone/>
            </a:pPr>
            <a:r>
              <a:t/>
            </a:r>
            <a:endParaRPr sz="1200">
              <a:solidFill>
                <a:srgbClr val="6B78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ct val="92308"/>
              <a:buFont typeface="Arial"/>
              <a:buNone/>
            </a:pPr>
            <a:r>
              <a:t/>
            </a:r>
            <a:endParaRPr sz="1300">
              <a:solidFill>
                <a:srgbClr val="6B78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9a644ec818_3_7"/>
          <p:cNvSpPr txBox="1"/>
          <p:nvPr/>
        </p:nvSpPr>
        <p:spPr>
          <a:xfrm>
            <a:off x="3381375" y="2148340"/>
            <a:ext cx="24528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81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B8381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9a644ec818_3_7"/>
          <p:cNvSpPr txBox="1"/>
          <p:nvPr/>
        </p:nvSpPr>
        <p:spPr>
          <a:xfrm>
            <a:off x="3381375" y="2385705"/>
            <a:ext cx="24528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700"/>
              <a:buFont typeface="Arial"/>
              <a:buNone/>
            </a:pPr>
            <a:r>
              <a:rPr lang="en-US" sz="1200">
                <a:solidFill>
                  <a:srgbClr val="0A1F3D"/>
                </a:solidFill>
                <a:latin typeface="Calibri"/>
                <a:ea typeface="Calibri"/>
                <a:cs typeface="Calibri"/>
                <a:sym typeface="Calibri"/>
              </a:rPr>
              <a:t>We are making health-access decisions on six-month-old data. That needs to be changed.</a:t>
            </a:r>
            <a:endParaRPr sz="120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700"/>
              <a:buFont typeface="Arial"/>
              <a:buNone/>
            </a:pPr>
            <a:r>
              <a:t/>
            </a:r>
            <a:endParaRPr sz="120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700"/>
              <a:buFont typeface="Arial"/>
              <a:buNone/>
            </a:pPr>
            <a:r>
              <a:t/>
            </a:r>
            <a:endParaRPr sz="120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9a644ec818_3_7"/>
          <p:cNvSpPr txBox="1"/>
          <p:nvPr/>
        </p:nvSpPr>
        <p:spPr>
          <a:xfrm>
            <a:off x="3381375" y="3212515"/>
            <a:ext cx="24528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6B7890"/>
                </a:solidFill>
                <a:latin typeface="Calibri"/>
                <a:ea typeface="Calibri"/>
                <a:cs typeface="Calibri"/>
                <a:sym typeface="Calibri"/>
              </a:rPr>
              <a:t>Approve a joint data-sharing agreement with the FCC — so HRSA's health-access case is built on live data, not lagged estimates.</a:t>
            </a:r>
            <a:endParaRPr sz="900">
              <a:solidFill>
                <a:srgbClr val="6B78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6B78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6B78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9a644ec818_3_7"/>
          <p:cNvSpPr txBox="1"/>
          <p:nvPr/>
        </p:nvSpPr>
        <p:spPr>
          <a:xfrm>
            <a:off x="6143625" y="2148340"/>
            <a:ext cx="24528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81F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B8381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9a644ec818_3_7"/>
          <p:cNvSpPr txBox="1"/>
          <p:nvPr/>
        </p:nvSpPr>
        <p:spPr>
          <a:xfrm>
            <a:off x="6143625" y="2385705"/>
            <a:ext cx="24528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700"/>
              <a:buFont typeface="Arial"/>
              <a:buNone/>
            </a:pPr>
            <a:r>
              <a:rPr lang="en-US" sz="1200">
                <a:solidFill>
                  <a:srgbClr val="0A1F3D"/>
                </a:solidFill>
                <a:latin typeface="Calibri"/>
                <a:ea typeface="Calibri"/>
                <a:cs typeface="Calibri"/>
                <a:sym typeface="Calibri"/>
              </a:rPr>
              <a:t>Two or three conversations could change what states are required to consider.</a:t>
            </a:r>
            <a:endParaRPr sz="120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700"/>
              <a:buFont typeface="Arial"/>
              <a:buNone/>
            </a:pPr>
            <a:r>
              <a:t/>
            </a:r>
            <a:endParaRPr sz="120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700"/>
              <a:buFont typeface="Arial"/>
              <a:buNone/>
            </a:pPr>
            <a:r>
              <a:t/>
            </a:r>
            <a:endParaRPr sz="1200">
              <a:solidFill>
                <a:srgbClr val="0A1F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9a644ec818_3_7"/>
          <p:cNvSpPr txBox="1"/>
          <p:nvPr/>
        </p:nvSpPr>
        <p:spPr>
          <a:xfrm>
            <a:off x="6143625" y="3212515"/>
            <a:ext cx="2452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6B7890"/>
                </a:solidFill>
                <a:latin typeface="Calibri"/>
                <a:ea typeface="Calibri"/>
                <a:cs typeface="Calibri"/>
                <a:sym typeface="Calibri"/>
              </a:rPr>
              <a:t>Direct HRSA communications to brief two or three Senate health committee staffers before the comment period closes — and ask them to put health-access language in writing.</a:t>
            </a:r>
            <a:endParaRPr sz="900">
              <a:solidFill>
                <a:srgbClr val="6B78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6B78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6B78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9a644ec818_3_7"/>
          <p:cNvSpPr txBox="1"/>
          <p:nvPr/>
        </p:nvSpPr>
        <p:spPr>
          <a:xfrm>
            <a:off x="619125" y="4276725"/>
            <a:ext cx="81429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1000"/>
              <a:buFont typeface="Arial"/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9a644ec818_3_7"/>
          <p:cNvSpPr txBox="1"/>
          <p:nvPr/>
        </p:nvSpPr>
        <p:spPr>
          <a:xfrm>
            <a:off x="619125" y="4781550"/>
            <a:ext cx="1323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81F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B8381F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9a644ec818_3_7"/>
          <p:cNvSpPr txBox="1"/>
          <p:nvPr/>
        </p:nvSpPr>
        <p:spPr>
          <a:xfrm>
            <a:off x="808583" y="4781550"/>
            <a:ext cx="18030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890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6B7890"/>
                </a:solidFill>
                <a:latin typeface="Calibri"/>
                <a:ea typeface="Calibri"/>
                <a:cs typeface="Calibri"/>
                <a:sym typeface="Calibri"/>
              </a:rPr>
              <a:t>TELEHEALTH DESERTS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9a644ec818_3_7"/>
          <p:cNvSpPr/>
          <p:nvPr/>
        </p:nvSpPr>
        <p:spPr>
          <a:xfrm>
            <a:off x="0" y="4727448"/>
            <a:ext cx="9144000" cy="416100"/>
          </a:xfrm>
          <a:prstGeom prst="rect">
            <a:avLst/>
          </a:prstGeom>
          <a:solidFill>
            <a:srgbClr val="8C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/>
          <p:nvPr/>
        </p:nvSpPr>
        <p:spPr>
          <a:xfrm>
            <a:off x="411480" y="201168"/>
            <a:ext cx="1920240" cy="237744"/>
          </a:xfrm>
          <a:prstGeom prst="roundRect">
            <a:avLst>
              <a:gd fmla="val 15385" name="adj"/>
            </a:avLst>
          </a:prstGeom>
          <a:solidFill>
            <a:srgbClr val="B85042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502920" y="2194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04  VALUE PROPOSITION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11480" y="502920"/>
            <a:ext cx="8321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Maximum impact. Minimum new spend.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foundation for future opportunity.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11480" y="1920240"/>
            <a:ext cx="265176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411480" y="1920240"/>
            <a:ext cx="2651760" cy="64008"/>
          </a:xfrm>
          <a:prstGeom prst="rect">
            <a:avLst/>
          </a:prstGeom>
          <a:solidFill>
            <a:srgbClr val="8C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576072" y="2084832"/>
            <a:ext cx="502920" cy="502920"/>
          </a:xfrm>
          <a:prstGeom prst="ellipse">
            <a:avLst/>
          </a:prstGeom>
          <a:solidFill>
            <a:srgbClr val="8C3A2A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" y="212140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"/>
          <p:cNvSpPr/>
          <p:nvPr/>
        </p:nvSpPr>
        <p:spPr>
          <a:xfrm>
            <a:off x="576072" y="2706624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Free Public Data &amp;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Minimal Compute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76072" y="3200400"/>
            <a:ext cx="2331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Every dataset is publicly available at zero cost. Compute requirements are lightweight — existing HRSA infrastructure is sufficient. No new data purchases or contracts required.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76072" y="4507992"/>
            <a:ext cx="2331720" cy="219456"/>
          </a:xfrm>
          <a:prstGeom prst="roundRect">
            <a:avLst>
              <a:gd fmla="val 16667" name="adj"/>
            </a:avLst>
          </a:prstGeom>
          <a:solidFill>
            <a:srgbClr val="8C3A2A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667512" y="452628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3A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C3A2A"/>
                </a:solidFill>
                <a:latin typeface="Calibri"/>
                <a:ea typeface="Calibri"/>
                <a:cs typeface="Calibri"/>
                <a:sym typeface="Calibri"/>
              </a:rPr>
              <a:t>$0 data  low compute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3291840" y="1920240"/>
            <a:ext cx="265176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3291840" y="1920240"/>
            <a:ext cx="2651760" cy="64008"/>
          </a:xfrm>
          <a:prstGeom prst="rect">
            <a:avLst/>
          </a:prstGeom>
          <a:solidFill>
            <a:srgbClr val="2A7C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3456432" y="2084832"/>
            <a:ext cx="502920" cy="502920"/>
          </a:xfrm>
          <a:prstGeom prst="ellipse">
            <a:avLst/>
          </a:prstGeom>
          <a:solidFill>
            <a:srgbClr val="2A7C6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7580" y="212140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"/>
          <p:cNvSpPr/>
          <p:nvPr/>
        </p:nvSpPr>
        <p:spPr>
          <a:xfrm>
            <a:off x="3456432" y="2706624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Multi-Agency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Leverage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3456432" y="3200400"/>
            <a:ext cx="2331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Three federal agencies already own the data. HRSA coordinates, FCC contributes broadband layers, NTIA brings BEAD logic. Staff and existing resources are the primary investment.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3456432" y="4507992"/>
            <a:ext cx="2331720" cy="219456"/>
          </a:xfrm>
          <a:prstGeom prst="roundRect">
            <a:avLst>
              <a:gd fmla="val 16667" name="adj"/>
            </a:avLst>
          </a:prstGeom>
          <a:solidFill>
            <a:srgbClr val="2A7C6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3547872" y="452628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C6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A7C6F"/>
                </a:solidFill>
                <a:latin typeface="Calibri"/>
                <a:ea typeface="Calibri"/>
                <a:cs typeface="Calibri"/>
                <a:sym typeface="Calibri"/>
              </a:rPr>
              <a:t>FCC  Census  NTIA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6172200" y="1920240"/>
            <a:ext cx="265176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6172200" y="1920240"/>
            <a:ext cx="2651760" cy="64008"/>
          </a:xfrm>
          <a:prstGeom prst="rect">
            <a:avLst/>
          </a:prstGeom>
          <a:solidFill>
            <a:srgbClr val="C997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6336792" y="2084832"/>
            <a:ext cx="502920" cy="502920"/>
          </a:xfrm>
          <a:prstGeom prst="ellipse">
            <a:avLst/>
          </a:prstGeom>
          <a:solidFill>
            <a:srgbClr val="C9973A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212140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"/>
          <p:cNvSpPr/>
          <p:nvPr/>
        </p:nvSpPr>
        <p:spPr>
          <a:xfrm>
            <a:off x="6336792" y="2706624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Mission Alignment &amp;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336792" y="3200400"/>
            <a:ext cx="2331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Positions HRSA as a proactive, data-forward agency. The methodology extends naturally to indigenous lands, redlining histories, food deserts, and mental health shortages.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6336792" y="4507992"/>
            <a:ext cx="2331720" cy="219456"/>
          </a:xfrm>
          <a:prstGeom prst="roundRect">
            <a:avLst>
              <a:gd fmla="val 16667" name="adj"/>
            </a:avLst>
          </a:prstGeom>
          <a:solidFill>
            <a:srgbClr val="C9973A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6428232" y="452628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HRSA 2024 Strategic Plan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/>
          <p:nvPr/>
        </p:nvSpPr>
        <p:spPr>
          <a:xfrm>
            <a:off x="411480" y="201168"/>
            <a:ext cx="1188720" cy="237744"/>
          </a:xfrm>
          <a:prstGeom prst="roundRect">
            <a:avLst>
              <a:gd fmla="val 15385" name="adj"/>
            </a:avLst>
          </a:prstGeom>
          <a:solidFill>
            <a:srgbClr val="B85042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502920" y="2194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05  THE ASK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11480" y="548640"/>
            <a:ext cx="8321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mall investment.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 impact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11480" y="210312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What we need to continue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11480" y="2423160"/>
            <a:ext cx="3931920" cy="384048"/>
          </a:xfrm>
          <a:prstGeom prst="rect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594360" y="2496312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3-4 person Data Analysis 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383280" y="249631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11480" y="2898648"/>
            <a:ext cx="3931920" cy="384048"/>
          </a:xfrm>
          <a:prstGeom prst="rect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594360" y="29718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to HRSA internal MUA 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3383280" y="29718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11480" y="3374136"/>
            <a:ext cx="3931920" cy="384048"/>
          </a:xfrm>
          <a:prstGeom prst="rect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594360" y="34472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Interagency data-sharing (FCC, NTIA)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3383280" y="344728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11480" y="3849624"/>
            <a:ext cx="3931920" cy="384048"/>
          </a:xfrm>
          <a:prstGeom prst="rect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594360" y="392277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Lightweight public dashboard hosting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383280" y="392277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&lt; $10K/yr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846320" y="2103120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VALUE CREATED already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846320" y="2423160"/>
            <a:ext cx="3886200" cy="384048"/>
          </a:xfrm>
          <a:prstGeom prst="rect">
            <a:avLst/>
          </a:prstGeom>
          <a:solidFill>
            <a:srgbClr val="B8504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48" y="2514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/>
          <p:nvPr/>
        </p:nvSpPr>
        <p:spPr>
          <a:xfrm>
            <a:off x="5285232" y="245973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207 counties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285232" y="2633472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prioritized with defensible, reproducible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846320" y="2898648"/>
            <a:ext cx="3886200" cy="384048"/>
          </a:xfrm>
          <a:prstGeom prst="rect">
            <a:avLst/>
          </a:prstGeom>
          <a:solidFill>
            <a:srgbClr val="B8504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48" y="29900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6"/>
          <p:cNvSpPr/>
          <p:nvPr/>
        </p:nvSpPr>
        <p:spPr>
          <a:xfrm>
            <a:off x="5285232" y="293522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Replicable tool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5285232" y="310896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scales annually as BEAD and FCC data refresh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846320" y="3374136"/>
            <a:ext cx="3886200" cy="384048"/>
          </a:xfrm>
          <a:prstGeom prst="rect">
            <a:avLst/>
          </a:prstGeom>
          <a:solidFill>
            <a:srgbClr val="B8504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48" y="34655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6"/>
          <p:cNvSpPr/>
          <p:nvPr/>
        </p:nvSpPr>
        <p:spPr>
          <a:xfrm>
            <a:off x="5285232" y="34107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HRSA as convener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5285232" y="358444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to lead </a:t>
            </a:r>
            <a:r>
              <a:rPr b="0" i="0" lang="en-US" sz="90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the federal health analytics conversation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846320" y="3849624"/>
            <a:ext cx="3886200" cy="384048"/>
          </a:xfrm>
          <a:prstGeom prst="rect">
            <a:avLst/>
          </a:prstGeom>
          <a:solidFill>
            <a:srgbClr val="B8504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48" y="394106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6"/>
          <p:cNvSpPr/>
          <p:nvPr/>
        </p:nvSpPr>
        <p:spPr>
          <a:xfrm>
            <a:off x="5285232" y="38862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Lives improved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285232" y="4059936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measurable, target outcome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8C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411480" y="4764024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1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$42.5B BEAD allocation, </a:t>
            </a:r>
            <a:r>
              <a:rPr b="1"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</a:t>
            </a:r>
            <a:r>
              <a:rPr b="1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defensible shortlist of 207 counties </a:t>
            </a:r>
            <a:r>
              <a:rPr b="1"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provided a meaningful starting point for states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3A2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7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B85042">
                <a:alpha val="3215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7"/>
          <p:cNvSpPr/>
          <p:nvPr/>
        </p:nvSpPr>
        <p:spPr>
          <a:xfrm>
            <a:off x="457200" y="200281"/>
            <a:ext cx="80466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next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your approval brings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11480" y="1417320"/>
            <a:ext cx="2606100" cy="18288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576072" y="1536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76075" y="2029975"/>
            <a:ext cx="25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data to create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human-centered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7"/>
          <p:cNvCxnSpPr/>
          <p:nvPr/>
        </p:nvCxnSpPr>
        <p:spPr>
          <a:xfrm>
            <a:off x="576072" y="2395728"/>
            <a:ext cx="12801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7"/>
          <p:cNvSpPr/>
          <p:nvPr/>
        </p:nvSpPr>
        <p:spPr>
          <a:xfrm>
            <a:off x="576072" y="2487168"/>
            <a:ext cx="2286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Authorize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investment to develop health-centric resources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3246120" y="1417320"/>
            <a:ext cx="2606100" cy="18288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3410712" y="1536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410712" y="2029968"/>
            <a:ext cx="228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Initiate interagency 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7"/>
          <p:cNvCxnSpPr/>
          <p:nvPr/>
        </p:nvCxnSpPr>
        <p:spPr>
          <a:xfrm>
            <a:off x="3410712" y="2395728"/>
            <a:ext cx="12801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7"/>
          <p:cNvSpPr/>
          <p:nvPr/>
        </p:nvSpPr>
        <p:spPr>
          <a:xfrm>
            <a:off x="3410712" y="2487168"/>
            <a:ext cx="2286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 with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FCC and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CDC to integrate data, ensuring human lives always remain center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080760" y="1417320"/>
            <a:ext cx="2606100" cy="18288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6245352" y="1536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245352" y="2029968"/>
            <a:ext cx="228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&amp; maintain 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 repository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7"/>
          <p:cNvCxnSpPr/>
          <p:nvPr/>
        </p:nvCxnSpPr>
        <p:spPr>
          <a:xfrm>
            <a:off x="6245352" y="2395728"/>
            <a:ext cx="12801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7"/>
          <p:cNvSpPr/>
          <p:nvPr/>
        </p:nvSpPr>
        <p:spPr>
          <a:xfrm>
            <a:off x="6245352" y="2487168"/>
            <a:ext cx="2286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Release findings annually, informing the public and guiding other agencies on where gaps remain.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0" y="3328350"/>
            <a:ext cx="9144000" cy="1108800"/>
          </a:xfrm>
          <a:prstGeom prst="rect">
            <a:avLst/>
          </a:prstGeom>
          <a:solidFill>
            <a:srgbClr val="1A2B4A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457200" y="3493008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9" name="Google Shape;2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758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7"/>
          <p:cNvSpPr/>
          <p:nvPr/>
        </p:nvSpPr>
        <p:spPr>
          <a:xfrm>
            <a:off x="841248" y="3648456"/>
            <a:ext cx="155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Indigenous &amp;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Tribal Lands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841248" y="3986784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Sovereign data gaps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328" y="36758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/>
          <p:nvPr/>
        </p:nvSpPr>
        <p:spPr>
          <a:xfrm>
            <a:off x="3008376" y="3648456"/>
            <a:ext cx="155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Redlining &amp;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Racial Equity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3008376" y="3986784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Historic exclusion layers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5" name="Google Shape;29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1456" y="36758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7"/>
          <p:cNvSpPr/>
          <p:nvPr/>
        </p:nvSpPr>
        <p:spPr>
          <a:xfrm>
            <a:off x="5175504" y="3648456"/>
            <a:ext cx="155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Food Deserts &amp;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Needs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5175504" y="3986784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SDOH intersection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58584" y="36758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/>
          <p:nvPr/>
        </p:nvSpPr>
        <p:spPr>
          <a:xfrm>
            <a:off x="7342632" y="3648456"/>
            <a:ext cx="155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Mental Health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Shortage Areas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7342632" y="3986784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HPSA expansion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57200" y="4864608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Daniel  Haoyuan  Tim  Marina  Ce    Columbia Applied Analytics 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" name="Google Shape;307;p8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8"/>
          <p:cNvSpPr/>
          <p:nvPr/>
        </p:nvSpPr>
        <p:spPr>
          <a:xfrm>
            <a:off x="457200" y="64008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~3.5 million Americans.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57200" y="1389888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 is how many people a quick analysis already found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living in telehealth deserts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with existing public data.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8"/>
          <p:cNvCxnSpPr/>
          <p:nvPr/>
        </p:nvCxnSpPr>
        <p:spPr>
          <a:xfrm>
            <a:off x="457200" y="2194560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8"/>
          <p:cNvSpPr/>
          <p:nvPr/>
        </p:nvSpPr>
        <p:spPr>
          <a:xfrm>
            <a:off x="457200" y="233172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minimal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investment, HRSA has the opportunity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become the collaborative federal agency that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ensures no American is left behind in the digital 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457200" y="3456432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The data exists. The methodology works.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A7BEAE"/>
                </a:solidFill>
                <a:latin typeface="Calibri"/>
                <a:ea typeface="Calibri"/>
                <a:cs typeface="Calibri"/>
                <a:sym typeface="Calibri"/>
              </a:rPr>
              <a:t>The window is now.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532120" y="411480"/>
            <a:ext cx="3291840" cy="4343400"/>
          </a:xfrm>
          <a:prstGeom prst="rect">
            <a:avLst/>
          </a:prstGeom>
          <a:solidFill>
            <a:srgbClr val="8C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5742432" y="731520"/>
            <a:ext cx="28803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HRSA's mission: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improve health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equity by expanding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to quality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 care.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8"/>
          <p:cNvCxnSpPr/>
          <p:nvPr/>
        </p:nvCxnSpPr>
        <p:spPr>
          <a:xfrm>
            <a:off x="5742432" y="3090672"/>
            <a:ext cx="210312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8"/>
          <p:cNvSpPr/>
          <p:nvPr/>
        </p:nvSpPr>
        <p:spPr>
          <a:xfrm>
            <a:off x="5742432" y="324612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analysis is that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mission in action.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5742432" y="4315968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Columbia Applied Analytics  |  Group 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57200" y="48463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Daniel  Haoyuan  Tim  Marina  Ce   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/>
          <p:nvPr/>
        </p:nvSpPr>
        <p:spPr>
          <a:xfrm>
            <a:off x="411480" y="34747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9"/>
          <p:cNvCxnSpPr/>
          <p:nvPr/>
        </p:nvCxnSpPr>
        <p:spPr>
          <a:xfrm>
            <a:off x="411480" y="84124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9"/>
          <p:cNvSpPr/>
          <p:nvPr/>
        </p:nvSpPr>
        <p:spPr>
          <a:xfrm>
            <a:off x="411480" y="960120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Centers for Disease Control and Prevention. PLACES: Local Data for Better Health, 2024 Release. Atlanta, GA: CDC Division of Population Health, 2024. https://www.cdc.gov/places.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411480" y="161848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Federal Communications Commission. FCC Form 477 County-Level Fixed Broadband Deployment Data, 2014-2024. Washington, DC: Federal Communications Commission, 2024. https://www.fcc.gov/general/broadband-deployment-data-fcc-form-477.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11480" y="2276856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National Telecommunications and Information Administration. Broadband Equity, Access, and Deployment (BEAD) Program State Allocation Tables. Washington, DC: U.S. Department of Commerce, 2024. https://www.ntia.gov/programs-and-initiatives/broadband/bead-program.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11480" y="2935224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U.S. Census Bureau. 2020 Census Redistricting Data (Public Law 94-171) Summary File. Washington, DC: U.S. Census Bureau, 2021. https://www.census.gov/programs-surveys/decennial-census/about/rdo/summary-files.html.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11480" y="3593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U.S. Census Bureau. American Community Survey 5-Year Estimates, 2019-2023. Washington, DC: U.S. Census Bureau, 2023. https://www.census.gov/programs-surveys/acs/data.html.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11480" y="4251960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U.S. Health Resources and Services Administration. Medically Underserved Areas and Populations (MUA/P) Designations. Rockville, MD: HRSA Bureau of Health Workforce, 2024. https://data.hrsa.gov/data/download.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11480" y="4882896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Columbia University Applied Analytics  |  Group 9  |  April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2026-04-29T19:46:06Z</dcterms:created>
  <dc:creator>PptxGenJS</dc:creator>
</cp:coreProperties>
</file>